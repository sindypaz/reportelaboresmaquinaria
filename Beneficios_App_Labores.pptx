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E7B7"/>
                </a:solidFill>
              </a:rPr>
              <a:t>AGRÍCOLA GUAPA SAS  ·  Transformación Digital — Reporte de Labores de Maquinaria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vs Ahora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21440" y="5029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5577840" cy="5486400"/>
          </a:xfrm>
          <a:prstGeom prst="roundRect">
            <a:avLst>
              <a:gd name="adj" fmla="val 1667"/>
            </a:avLst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05156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51560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❌  ANTES — Sistema en Papel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457200" cy="457200"/>
          </a:xfrm>
          <a:prstGeom prst="ellipse">
            <a:avLst/>
          </a:prstGeom>
          <a:solidFill>
            <a:srgbClr val="FECAC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373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50 operadores llenaban formatos físicos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9751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Cada turno, en papel, sin respaldo digital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457200" cy="457200"/>
          </a:xfrm>
          <a:prstGeom prst="ellipse">
            <a:avLst/>
          </a:prstGeom>
          <a:solidFill>
            <a:srgbClr val="FECAC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2432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⌨️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2578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2 personas digitando maquinaria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8620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Dedicación exclusiva — proceso lento y con errores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457200" cy="457200"/>
          </a:xfrm>
          <a:prstGeom prst="ellipse">
            <a:avLst/>
          </a:prstGeom>
          <a:solidFill>
            <a:srgbClr val="FECAC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1129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34655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1 supervisor recogiendo formatos en fincas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7490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Desplazamientos recurrentes entre fincas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416552"/>
            <a:ext cx="457200" cy="457200"/>
          </a:xfrm>
          <a:prstGeom prst="ellipse">
            <a:avLst/>
          </a:prstGeom>
          <a:solidFill>
            <a:srgbClr val="FECAC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9826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51560" y="43525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Datos represados hasta 1 semana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6360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Decisiones sin información oportuna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303520"/>
            <a:ext cx="457200" cy="457200"/>
          </a:xfrm>
          <a:prstGeom prst="ellipse">
            <a:avLst/>
          </a:prstGeom>
          <a:solidFill>
            <a:srgbClr val="FECAC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2852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❗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51560" y="52395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Errores frecuentes de digitación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55229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Pérdida de información, re-trabajo constante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1051560"/>
            <a:ext cx="5623560" cy="5486400"/>
          </a:xfrm>
          <a:prstGeom prst="roundRect">
            <a:avLst>
              <a:gd name="adj" fmla="val 1667"/>
            </a:avLst>
          </a:prstGeom>
          <a:solidFill>
            <a:srgbClr val="F0FDF4"/>
          </a:solidFill>
          <a:ln/>
        </p:spPr>
      </p:sp>
      <p:sp>
        <p:nvSpPr>
          <p:cNvPr id="31" name="Shape 29"/>
          <p:cNvSpPr/>
          <p:nvPr/>
        </p:nvSpPr>
        <p:spPr>
          <a:xfrm>
            <a:off x="6263640" y="1051560"/>
            <a:ext cx="5623560" cy="475488"/>
          </a:xfrm>
          <a:prstGeom prst="roundRect">
            <a:avLst>
              <a:gd name="adj" fmla="val 19231"/>
            </a:avLst>
          </a:prstGeom>
          <a:solidFill>
            <a:srgbClr val="065F46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1051560"/>
            <a:ext cx="5532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 AHORA — App Digital PWA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00800" y="1755648"/>
            <a:ext cx="457200" cy="457200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17373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9516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50 operadores registran desde el celular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95160" y="1975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App instalable, funciona sin internet (offline)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0" y="2642616"/>
            <a:ext cx="457200" cy="457200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262432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95160" y="25786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Sincronización automática a Google Sheets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95160" y="28620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Datos disponibles al instante con WiFi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0" y="3529584"/>
            <a:ext cx="457200" cy="457200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351129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995160" y="3465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Sin desplazamientos para recoger datos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95160" y="3749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El operador registra en campo — nada se recoge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00800" y="4416552"/>
            <a:ext cx="457200" cy="457200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439826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995160" y="43525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Información disponible en tiempo real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95160" y="46360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Decisiones inmediatas con datos del día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400800" y="5303520"/>
            <a:ext cx="457200" cy="457200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52852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✔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995160" y="5239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Cero errores de re-digitación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95160" y="55229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Dato directo del operador, estructurado en 21 cols.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035040" y="1097280"/>
            <a:ext cx="0" cy="53949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3154680"/>
            <a:ext cx="640080" cy="54864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EE7B7"/>
                </a:solidFill>
              </a:rPr>
              <a:t>IMPACTO Y AHORRO ESTIMADO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liberados · Costos eliminados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32A1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87552"/>
            <a:ext cx="109728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1389888" y="10515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82112" y="9601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32A1C"/>
          </a:solidFill>
          <a:ln/>
        </p:spPr>
      </p:sp>
      <p:sp>
        <p:nvSpPr>
          <p:cNvPr id="10" name="Text 8"/>
          <p:cNvSpPr/>
          <p:nvPr/>
        </p:nvSpPr>
        <p:spPr>
          <a:xfrm>
            <a:off x="3182112" y="987552"/>
            <a:ext cx="109728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297680" y="10515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desplazamientos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9904" y="9601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32A1C"/>
          </a:solidFill>
          <a:ln/>
        </p:spPr>
      </p:sp>
      <p:sp>
        <p:nvSpPr>
          <p:cNvPr id="13" name="Text 11"/>
          <p:cNvSpPr/>
          <p:nvPr/>
        </p:nvSpPr>
        <p:spPr>
          <a:xfrm>
            <a:off x="6089904" y="987552"/>
            <a:ext cx="109728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7205472" y="10515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Digitadores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liberados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97696" y="9601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32A1C"/>
          </a:solidFill>
          <a:ln/>
        </p:spPr>
      </p:sp>
      <p:sp>
        <p:nvSpPr>
          <p:cNvPr id="16" name="Text 14"/>
          <p:cNvSpPr/>
          <p:nvPr/>
        </p:nvSpPr>
        <p:spPr>
          <a:xfrm>
            <a:off x="8997696" y="987552"/>
            <a:ext cx="109728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10113264" y="10515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sin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2788920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</a:rPr>
              <a:t>AHORRO MENSUAL ESTIMADO (referencial)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132A1C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" y="333756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319272"/>
            <a:ext cx="640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⌨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34440" y="3337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Digitadores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personas liberadas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otras labores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46085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ANTES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" y="4901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$ 3.000.000 / mes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5321808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0D4429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53583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AHORA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" y="5650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206240" y="320040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132A1C"/>
          </a:solidFill>
          <a:ln/>
        </p:spPr>
      </p:sp>
      <p:sp>
        <p:nvSpPr>
          <p:cNvPr id="31" name="Shape 29"/>
          <p:cNvSpPr/>
          <p:nvPr/>
        </p:nvSpPr>
        <p:spPr>
          <a:xfrm>
            <a:off x="4407408" y="333756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32" name="Text 30"/>
          <p:cNvSpPr/>
          <p:nvPr/>
        </p:nvSpPr>
        <p:spPr>
          <a:xfrm>
            <a:off x="4407408" y="3319272"/>
            <a:ext cx="640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166360" y="3337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Desplazamientos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389120" y="38862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 + tiempo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supervisor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389120" y="457200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3B2A0A"/>
          </a:solidFill>
          <a:ln/>
        </p:spPr>
      </p:sp>
      <p:sp>
        <p:nvSpPr>
          <p:cNvPr id="36" name="Text 34"/>
          <p:cNvSpPr/>
          <p:nvPr/>
        </p:nvSpPr>
        <p:spPr>
          <a:xfrm>
            <a:off x="4462272" y="46085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ANTES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62272" y="4901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$ 600.000 / mes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389120" y="5321808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0D4429"/>
          </a:solidFill>
          <a:ln/>
        </p:spPr>
      </p:sp>
      <p:sp>
        <p:nvSpPr>
          <p:cNvPr id="39" name="Text 37"/>
          <p:cNvSpPr/>
          <p:nvPr/>
        </p:nvSpPr>
        <p:spPr>
          <a:xfrm>
            <a:off x="4462272" y="53583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AHORA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62272" y="5650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138160" y="320040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132A1C"/>
          </a:solidFill>
          <a:ln/>
        </p:spPr>
      </p:sp>
      <p:sp>
        <p:nvSpPr>
          <p:cNvPr id="42" name="Shape 40"/>
          <p:cNvSpPr/>
          <p:nvPr/>
        </p:nvSpPr>
        <p:spPr>
          <a:xfrm>
            <a:off x="8339328" y="3337560"/>
            <a:ext cx="640080" cy="64008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43" name="Text 41"/>
          <p:cNvSpPr/>
          <p:nvPr/>
        </p:nvSpPr>
        <p:spPr>
          <a:xfrm>
            <a:off x="8339328" y="3319272"/>
            <a:ext cx="640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9098280" y="3337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y Formatos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321040" y="38862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Impresión, almacenamiento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gestión de archivos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321040" y="457200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3B1111"/>
          </a:solidFill>
          <a:ln/>
        </p:spPr>
      </p:sp>
      <p:sp>
        <p:nvSpPr>
          <p:cNvPr id="47" name="Text 45"/>
          <p:cNvSpPr/>
          <p:nvPr/>
        </p:nvSpPr>
        <p:spPr>
          <a:xfrm>
            <a:off x="8394192" y="46085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ANTES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94192" y="4901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</a:rPr>
              <a:t>$ 150.000 / mes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321040" y="5321808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0D4429"/>
          </a:solidFill>
          <a:ln/>
        </p:spPr>
      </p:sp>
      <p:sp>
        <p:nvSpPr>
          <p:cNvPr id="50" name="Text 48"/>
          <p:cNvSpPr/>
          <p:nvPr/>
        </p:nvSpPr>
        <p:spPr>
          <a:xfrm>
            <a:off x="8394192" y="53583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AHORA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94192" y="5650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$ 0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274320" y="6053328"/>
            <a:ext cx="11612880" cy="594360"/>
          </a:xfrm>
          <a:prstGeom prst="roundRect">
            <a:avLst>
              <a:gd name="adj" fmla="val 15385"/>
            </a:avLst>
          </a:prstGeom>
          <a:solidFill>
            <a:srgbClr val="065F46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60807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AHORRO TOTAL ESTIMADO: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931920" y="608076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$ 3.750.000 / mes  ·  $ 45.000.000 / año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9235440" y="6172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EE7B7"/>
                </a:solidFill>
              </a:rPr>
              <a:t>* Valores referenciales — actualizar con costos reales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2026-07-24T19:53:03Z</dcterms:created>
  <dcterms:modified xsi:type="dcterms:W3CDTF">2026-07-24T19:53:03Z</dcterms:modified>
</cp:coreProperties>
</file>